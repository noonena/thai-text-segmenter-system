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64008"/>
          </a:xfrm>
          <a:prstGeom prst="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TH Sarabun New"/>
              </a:rPr>
              <a:t>ระบบการแบ่งส่วนข้อความภาษาไทย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DD7EE"/>
                </a:solidFill>
                <a:latin typeface="Calibri"/>
              </a:rPr>
              <a:t>Thai Text Segmenter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926080"/>
            <a:ext cx="5760720" cy="54864"/>
          </a:xfrm>
          <a:prstGeom prst="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TH Sarabun New"/>
              </a:rPr>
              <a:t>นางสาวยูนิส  เหลียว   รหัส 6511130010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BDD7EE"/>
                </a:solidFill>
                <a:latin typeface="TH Sarabun New"/>
              </a:rPr>
              <a:t>ปริญญานิพนธ์ สาขาวิศวกรรมคอมพิวเตอร์และปัญญาประดิษฐ์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  <a:latin typeface="TH Sarabun New"/>
              </a:rPr>
              <a:t>มหาวิทยาลัยเทคโนโลยีมหานคร  |  ปีการศึกษา 2568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5029200"/>
            <a:ext cx="192024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H Sarabun New"/>
              </a:rPr>
              <a:t>CRF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5029200"/>
            <a:ext cx="1920240" cy="50292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H Sarabun New"/>
              </a:rPr>
              <a:t>Viterbi DP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29200"/>
            <a:ext cx="1920240" cy="502920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H Sarabun New"/>
              </a:rPr>
              <a:t>LST20 Corpus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5029200"/>
            <a:ext cx="1920240" cy="50292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H Sarabun New"/>
              </a:rPr>
              <a:t>POS Tagging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17802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สารบัญ /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371600" cy="74980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บทที่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9875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28016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62626"/>
                </a:solidFill>
                <a:latin typeface="TH Sarabun New"/>
              </a:rPr>
              <a:t>บทนำ: ปัญหาและวัตถุประสงค์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1371600" cy="74980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286000"/>
            <a:ext cx="9875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28600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62626"/>
                </a:solidFill>
                <a:latin typeface="TH Sarabun New"/>
              </a:rPr>
              <a:t>ทฤษฎี: Pipeline และอัลกอริทึม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291840"/>
            <a:ext cx="1371600" cy="749808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291840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บทที่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3291840"/>
            <a:ext cx="9875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329184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62626"/>
                </a:solidFill>
                <a:latin typeface="TH Sarabun New"/>
              </a:rPr>
              <a:t>การออกแบบระบบ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97680"/>
            <a:ext cx="1371600" cy="749808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บทที่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4297680"/>
            <a:ext cx="9875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429768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62626"/>
                </a:solidFill>
                <a:latin typeface="TH Sarabun New"/>
              </a:rPr>
              <a:t>การทดลอง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303520"/>
            <a:ext cx="1371600" cy="749808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บทที่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5303520"/>
            <a:ext cx="9875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5303520"/>
            <a:ext cx="9601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62626"/>
                </a:solidFill>
                <a:latin typeface="TH Sarabun New"/>
              </a:rPr>
              <a:t>ผลและสรุป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ทำไมภาษาไทยถึงยาก?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1005840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TH Sarabun New"/>
              </a:rPr>
              <a:t>English  (มีช่องว่าง)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62626"/>
                </a:solidFill>
                <a:latin typeface="Calibri"/>
              </a:rPr>
              <a:t>"I  love  Thai  food"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303520" cy="1005840"/>
          </a:xfrm>
          <a:prstGeom prst="rect">
            <a:avLst/>
          </a:prstGeom>
          <a:solidFill>
            <a:srgbClr val="FFD7D7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TH Sarabun New"/>
              </a:rPr>
              <a:t>Thai  (ไม่มีช่องว่าง)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62626"/>
                </a:solidFill>
                <a:latin typeface="TH Sarabun New"/>
              </a:rPr>
              <a:t>"ฉันชอบอาหารไทย"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303520" cy="2103120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TH Sarabun New"/>
              </a:rPr>
              <a:t>ความกำกวม (Ambiguity):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TH Sarabun New"/>
              </a:rPr>
              <a:t>ตา | กลม  = ตา + กลม (eye + round)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TH Sarabun New"/>
              </a:rPr>
              <a:t>ตากลม     = ตากลม (person's name)</a:t>
            </a:r>
          </a:p>
          <a:p>
            <a:pPr algn="l"/>
            <a:r>
              <a:rPr sz="1800" b="0">
                <a:solidFill>
                  <a:srgbClr val="262626"/>
                </a:solidFill>
                <a:latin typeface="TH Sarabun New"/>
              </a:rPr>
              <a:t>ตาก | ลม  = to dry + 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88720"/>
            <a:ext cx="1828800" cy="3200400"/>
          </a:xfrm>
          <a:prstGeom prst="roundRect">
            <a:avLst/>
          </a:prstGeom>
          <a:solidFill>
            <a:srgbClr val="FFD7D7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1188720"/>
            <a:ext cx="548640" cy="5486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182880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Word Boundary
Ambiguity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65176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2626"/>
                </a:solidFill>
                <a:latin typeface="TH Sarabun New"/>
              </a:rPr>
              <a:t>ข้อความเดียวอ่านได้หลายแบบ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1188720"/>
            <a:ext cx="1828800" cy="3200400"/>
          </a:xfrm>
          <a:prstGeom prst="roundRect">
            <a:avLst/>
          </a:prstGeom>
          <a:solidFill>
            <a:srgbClr val="FFE8D0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05088" y="1188720"/>
            <a:ext cx="54864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8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182880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7D31"/>
                </a:solidFill>
                <a:latin typeface="Calibri"/>
              </a:rPr>
              <a:t>Compound 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65176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2626"/>
                </a:solidFill>
                <a:latin typeface="TH Sarabun New"/>
              </a:rPr>
              <a:t>คำประสมที่ตีความได้หลายทาง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94976" y="1188720"/>
            <a:ext cx="1828800" cy="3200400"/>
          </a:xfrm>
          <a:prstGeom prst="roundRect">
            <a:avLst/>
          </a:prstGeom>
          <a:solidFill>
            <a:srgbClr val="F0DDF8"/>
          </a:solidFill>
          <a:ln w="254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35055" y="1188720"/>
            <a:ext cx="548640" cy="54864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35055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6415" y="182880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8C"/>
                </a:solidFill>
                <a:latin typeface="Calibri"/>
              </a:rPr>
              <a:t>Unknown 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6415" y="2651760"/>
            <a:ext cx="1645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62626"/>
                </a:solidFill>
                <a:latin typeface="TH Sarabun New"/>
              </a:rPr>
              <a:t>คำใหม่ คำแสลง คำยืมต่างประเทศ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4068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TH Sarabun New"/>
              </a:rPr>
              <a:t>→ ต้องการระบบอัจฉริยะในการระบุขอบเขตคำ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วัตถุประสงค์และแนวทาง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TH Sarabun New"/>
              </a:rPr>
              <a:t>พัฒนาระบบ NLP ภาษาไทยแบบ Multi-stage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74519"/>
            <a:ext cx="11430000" cy="5943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TH Sarabun New"/>
              </a:rPr>
              <a:t>แก้ปัญหาความกำกวมของขอบเขตคำ (Word Boundary Ambiguity)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60320"/>
            <a:ext cx="11430000" cy="5943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TH Sarabun New"/>
              </a:rPr>
              <a:t>จัดการคำประสม (Compound Words) ได้อย่างถูกต้อง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46120"/>
            <a:ext cx="11430000" cy="5943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TH Sarabun New"/>
              </a:rPr>
              <a:t>รองรับคำนอกพจนานุกรม (Unknown Words)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931920"/>
            <a:ext cx="11430000" cy="594360"/>
          </a:xfrm>
          <a:prstGeom prst="roundRect">
            <a:avLst/>
          </a:prstGeom>
          <a:solidFill>
            <a:srgbClr val="EBF3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TH Sarabun New"/>
              </a:rPr>
              <a:t>ฝึกและประเมินบนคลังข้อมูล LST20 มาตรฐาน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754880"/>
            <a:ext cx="11430000" cy="13716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911A"/>
                </a:solidFill>
                <a:latin typeface="TH Sarabun New"/>
              </a:rPr>
              <a:t>แบบจำลองหลัก: Conditional Random Field (CRF)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8523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TH Sarabun New"/>
              </a:rPr>
              <a:t>ใช้ CRF เดียวกัน 3 ขั้นตอน: MTU Extraction  →  Syllable Identification  →  POS Tagging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TH Sarabun New"/>
              </a:rPr>
              <a:t>ขั้นตอน Word Segmentation ใช้ Viterbi Dynamic Programming + LST20 Dictionary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สถาปัตยกรรมระบบ (Client–Server)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474720" cy="502920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  <a:latin typeface="Calibri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371600" cy="118872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F3864"/>
                </a:solidFill>
                <a:latin typeface="TH Sarabun New"/>
              </a:rPr>
              <a:t>React
(UI)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1371600" cy="118872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F3864"/>
                </a:solidFill>
                <a:latin typeface="TH Sarabun New"/>
              </a:rPr>
              <a:t>HTML Mode
+ Text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1371600" cy="118872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F3864"/>
                </a:solidFill>
                <a:latin typeface="TH Sarabun New"/>
              </a:rPr>
              <a:t>History
(localStorage)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3337560"/>
            <a:ext cx="1371600" cy="1188720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337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F3864"/>
                </a:solidFill>
                <a:latin typeface="TH Sarabun New"/>
              </a:rPr>
              <a:t>Output
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9260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67676"/>
                </a:solidFill>
                <a:latin typeface="Calibri"/>
              </a:rPr>
              <a:t>HTTP
POST /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517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75B6"/>
                </a:solidFill>
                <a:latin typeface="Calibri"/>
              </a:rPr>
              <a:t>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188720"/>
            <a:ext cx="3657600" cy="5029200"/>
          </a:xfrm>
          <a:prstGeom prst="roundRect">
            <a:avLst/>
          </a:prstGeom>
          <a:solidFill>
            <a:srgbClr val="F0F7F0"/>
          </a:solidFill>
          <a:ln w="254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862C"/>
                </a:solidFill>
                <a:latin typeface="Calibri"/>
              </a:rPr>
              <a:t>SERVER (FastAPI + Uvicorn)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828800"/>
            <a:ext cx="146304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6020"/>
                </a:solidFill>
                <a:latin typeface="Calibri"/>
              </a:rPr>
              <a:t>HTML Parser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828800"/>
            <a:ext cx="146304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8288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6020"/>
                </a:solidFill>
                <a:latin typeface="Calibri"/>
              </a:rPr>
              <a:t>NLP Pipeline
(CRF + Viterbi)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337560"/>
            <a:ext cx="146304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33375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6020"/>
                </a:solidFill>
                <a:latin typeface="Calibri"/>
              </a:rPr>
              <a:t>Auth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3337560"/>
            <a:ext cx="1463040" cy="11887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3375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06020"/>
                </a:solidFill>
                <a:latin typeface="Calibri"/>
              </a:rPr>
              <a:t>SQLite 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1188720"/>
            <a:ext cx="2651760" cy="5029200"/>
          </a:xfrm>
          <a:prstGeom prst="roundRect">
            <a:avLst/>
          </a:prstGeom>
          <a:solidFill>
            <a:srgbClr val="F0DDF8"/>
          </a:solidFill>
          <a:ln w="254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188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8C"/>
                </a:solidFill>
                <a:latin typeface="Calibri"/>
              </a:rPr>
              <a:t>AI Models (.pkl)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182880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182880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8C"/>
                </a:solidFill>
                <a:latin typeface="Calibri"/>
              </a:rPr>
              <a:t>MTU CRF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64040" y="292608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29260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8C"/>
                </a:solidFill>
                <a:latin typeface="Calibri"/>
              </a:rPr>
              <a:t>Syllable CRF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402336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402336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8C"/>
                </a:solidFill>
                <a:latin typeface="Calibri"/>
              </a:rPr>
              <a:t>Viterbi +
Dictionary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5120640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51206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2F8C"/>
                </a:solidFill>
                <a:latin typeface="Calibri"/>
              </a:rPr>
              <a:t>POS CRF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26364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67676"/>
                </a:solidFill>
                <a:latin typeface="Calibri"/>
              </a:rPr>
              <a:t>React + TypeScript   |   FastAPI + Python 3.13   |   python-crfsuite   |   SQLite3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4-Stage NLP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13232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DD7EE"/>
                </a:solidFill>
                <a:latin typeface="TH Sarabun New"/>
              </a:rPr>
              <a:t>Text → MTU → Syllable → Word → 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71600"/>
            <a:ext cx="2697480" cy="36576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411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463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MTU
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019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699"/>
                </a:solidFill>
                <a:latin typeface="Calibri"/>
              </a:rPr>
              <a:t>CRF
(char-level)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21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H Sarabun New"/>
              </a:rPr>
              <a:t>ฉัน|ชอบ|อา|หาร|ไทย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5911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371600"/>
            <a:ext cx="2697480" cy="3657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463040"/>
            <a:ext cx="411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5B6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59" y="1463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Syllable
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9019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699"/>
                </a:solidFill>
                <a:latin typeface="Calibri"/>
              </a:rPr>
              <a:t>CRF
(MTU-level)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221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H Sarabun New"/>
              </a:rPr>
              <a:t>[ฉัน][ชอบ][อา-หาร][ไทย]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8346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5911A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2697480" cy="365760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59" y="1463040"/>
            <a:ext cx="411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06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1463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Word
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19019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699"/>
                </a:solidFill>
                <a:latin typeface="Calibri"/>
              </a:rPr>
              <a:t>Viterbi DP
+ 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221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H Sarabun New"/>
              </a:rPr>
              <a:t>ฉัน | ชอบ | อาหาร | ไทย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8346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5911A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697480" cy="365760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1160" y="1463040"/>
            <a:ext cx="4114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2F8C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1463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POS
Tagging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19019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E699"/>
                </a:solidFill>
                <a:latin typeface="Calibri"/>
              </a:rPr>
              <a:t>CRF
(word-level)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221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H Sarabun New"/>
              </a:rPr>
              <a:t>ฉัน(PA) ชอบ(VV)
อาหาร(NN) ไทย(AJ)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1371600"/>
            <a:ext cx="292608" cy="3657600"/>
          </a:xfrm>
          <a:prstGeom prst="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2651760"/>
            <a:ext cx="320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
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5166360"/>
            <a:ext cx="11704320" cy="594360"/>
          </a:xfrm>
          <a:prstGeom prst="roundRect">
            <a:avLst/>
          </a:prstGeom>
          <a:solidFill>
            <a:srgbClr val="FFE699"/>
          </a:solidFill>
          <a:ln w="19050">
            <a:solidFill>
              <a:srgbClr val="C5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193792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TH Sarabun New"/>
              </a:rPr>
              <a:t>ตัวอย่าง: "นักเรียนทุกคนไปโรงพยาบาล"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19379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→  นักเรียน | ทุก | คน | ไป | โรงพยาบาล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Stage 1: MTU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13232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DD7EE"/>
                </a:solidFill>
                <a:latin typeface="TH Sarabun New"/>
              </a:rPr>
              <a:t>Minimal Text Unit – smallest building 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029200" cy="1828800"/>
          </a:xfrm>
          <a:prstGeom prst="roundRect">
            <a:avLst/>
          </a:prstGeom>
          <a:solidFill>
            <a:srgbClr val="EB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TH Sarabun New"/>
              </a:rPr>
              <a:t>MTU คืออะไร?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พยัญชนะ 1 ตัว + สระ + วรรณยุกต์ที่กำกับโดยตรง</a:t>
            </a:r>
          </a:p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ตัวอย่าง: เกา  หลี  ษ  ต  ร</a:t>
            </a:r>
          </a:p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พยัญชนะที่ไม่มีสระ = MTU เดี่ยว: ษ ต 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54680"/>
            <a:ext cx="5029200" cy="2286000"/>
          </a:xfrm>
          <a:prstGeom prst="roundRect">
            <a:avLst/>
          </a:prstGeom>
          <a:solidFill>
            <a:srgbClr val="FFE8D0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TH Sarabun New"/>
              </a:rPr>
              <a:t>ตัวอย่าง: เกษตรกรรม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640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490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TH Sarabun New"/>
              </a:rPr>
              <a:t>เก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2728" y="3749039"/>
            <a:ext cx="640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7490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TH Sarabun New"/>
              </a:rPr>
              <a:t>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02536" y="3749039"/>
            <a:ext cx="640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37490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TH Sarabun New"/>
              </a:rPr>
              <a:t>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2344" y="3749039"/>
            <a:ext cx="640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37490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TH Sarabun New"/>
              </a:rPr>
              <a:t>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2152" y="3749039"/>
            <a:ext cx="640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7490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TH Sarabun New"/>
              </a:rPr>
              <a:t>กร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3749039"/>
            <a:ext cx="640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7490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TH Sarabun New"/>
              </a:rPr>
              <a:t>รม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80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BMES: B  S  S  S  B 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92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67676"/>
                </a:solidFill>
                <a:latin typeface="TH Sarabun New"/>
              </a:rPr>
              <a:t>→ Labels สร้างอัตโนมัติจากกฎอักขรวิธี (Silver Labels)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1188720"/>
            <a:ext cx="63093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11887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Calibri"/>
              </a:rPr>
              <a:t>12 Character-Level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1719072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1719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char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7190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อักขระปัจจุบัน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139696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21396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char_type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13969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ประเภท: C/F/U/L/B/T/K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2560320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25603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char[±1,±2]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5603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Context window ±2 ตัว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2980944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29809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type[±1,±2]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98094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ประเภทใน context window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0" y="3401568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401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bigram [-1,0]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40156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คู่อักขระก่อนหน้า+ปัจจุบัน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3822191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382219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bigram [0,+1]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822191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คู่อักขระปัจจุบัน+ถัดไป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4242816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0" y="42428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is_consonant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24281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เป็นพยัญชนะ?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0" y="4663440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46634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is_vowel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46634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เป็นสระ?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0" y="5084064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5000" y="50840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is_tone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08406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เป็นวรรณยุกต์?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0" y="5504688"/>
            <a:ext cx="2011680" cy="347472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15000" y="55046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compound_vowel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550468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เป็นสระประสม?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5577840"/>
            <a:ext cx="11704320" cy="59436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605272"/>
            <a:ext cx="11430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ผลลัพธ์ MTU CRF:   F1 = 99.80%   |   Precision = 99.82%   |   Recall = 99.78%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Stage 2: Syllable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13232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DD7EE"/>
                </a:solidFill>
                <a:latin typeface="TH Sarabun New"/>
              </a:rPr>
              <a:t>รวม MTU → พยางค์ด้วย CRF + กฎ Rule-based 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303520" cy="91440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TH Sarabun New"/>
              </a:rPr>
              <a:t>Input: MTU sequence  [เก][ษ][ต][ร][กร][รม]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↓  CRF predicts BMES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651760"/>
            <a:ext cx="5303520" cy="731520"/>
          </a:xfrm>
          <a:prstGeom prst="roundRect">
            <a:avLst/>
          </a:prstGeom>
          <a:solidFill>
            <a:srgbClr val="EB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864"/>
                </a:solidFill>
                <a:latin typeface="TH Sarabun New"/>
              </a:rPr>
              <a:t>BMES:  B  S  S  S  B  E  →  [เกษ] [ต] [ร] [กรรม]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↓  Assemble syllables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886200"/>
            <a:ext cx="5303520" cy="685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04487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Output: [เกษ | ต | ร | กรรม]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188720"/>
            <a:ext cx="6126480" cy="3840480"/>
          </a:xfrm>
          <a:prstGeom prst="roundRect">
            <a:avLst/>
          </a:prstGeom>
          <a:solidFill>
            <a:srgbClr val="FFD7D7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1887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Calibri"/>
              </a:rPr>
              <a:t>⚠  Stolen Consonant Repair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737360"/>
            <a:ext cx="5943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TH Sarabun New"/>
              </a:rPr>
              <a:t>ปัญหา: CRF ดึงพยัญชนะท้ายไปรวมพยางค์ถัดไป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/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>ตัวอย่าง:  วิตกว่า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>  ผิด:  [วิต] + [กว่า]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>  ถูก:  [วิตก] + [ว่า]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/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>กฎ: ถ้า syllable[i] ไม่ใน dict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>     แต่ syllable[i]+syllable[i+1][0]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>     อยู่ใน dict  AND</a:t>
            </a:r>
          </a:p>
          <a:p>
            <a:pPr algn="l"/>
            <a:r>
              <a:rPr sz="1500" b="0">
                <a:solidFill>
                  <a:srgbClr val="262626"/>
                </a:solidFill>
                <a:latin typeface="TH Sarabun New"/>
              </a:rPr>
              <a:t>     syllable[i+1][1:] อยู่ใน dict</a:t>
            </a:r>
          </a:p>
          <a:p>
            <a:pPr algn="l"/>
            <a:r>
              <a:rPr sz="1500" b="1">
                <a:solidFill>
                  <a:srgbClr val="262626"/>
                </a:solidFill>
                <a:latin typeface="TH Sarabun New"/>
              </a:rPr>
              <a:t>→ ย้ายอักขระแรกของ[i+1] กลับไป[i]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709160"/>
            <a:ext cx="5303520" cy="1005840"/>
          </a:xfrm>
          <a:prstGeom prst="roundRect">
            <a:avLst/>
          </a:prstGeom>
          <a:solidFill>
            <a:srgbClr val="FFE699"/>
          </a:solidFill>
          <a:ln w="19050">
            <a:solidFill>
              <a:srgbClr val="C5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736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05000"/>
                </a:solidFill>
                <a:latin typeface="TH Sarabun New"/>
              </a:rPr>
              <a:t>⚠  จุดอ่อน: Over-segmentation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Precision = 61.9%  (ตัดมากเกินไป)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Recall    = 99.9%  (ครอบคลุมดีมาก)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5120640"/>
            <a:ext cx="6126480" cy="731520"/>
          </a:xfrm>
          <a:prstGeom prst="roundRect">
            <a:avLst/>
          </a:prstGeom>
          <a:solidFill>
            <a:srgbClr val="EB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5148072"/>
            <a:ext cx="5943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TH Sarabun New"/>
              </a:rPr>
              <a:t>NFA_BOUNDARY feature: เพิ่มสัญญาณจากกฎ orthographic_syllabify เป็น binary feature ให้ CRF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Stage 3: Word Segmentation (Viterbi DP)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13232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DD7EE"/>
                </a:solidFill>
                <a:latin typeface="TH Sarabun New"/>
              </a:rPr>
              <a:t>หาเส้นทางการตัดคำที่ให้คะแนนรวมสูงสุด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669280" cy="1828800"/>
          </a:xfrm>
          <a:prstGeom prst="roundRect">
            <a:avLst/>
          </a:prstGeom>
          <a:solidFill>
            <a:srgbClr val="EB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TH Sarabun New"/>
              </a:rPr>
              <a:t>อัลกอริทึม Viterbi 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73352"/>
            <a:ext cx="53035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1. ไล่จากซ้ายไปขวา ทีละตำแหน่งพยางค์</a:t>
            </a:r>
          </a:p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2. ทดลองรวม 1–8 พยางค์เป็นคำผู้สมัคร</a:t>
            </a:r>
          </a:p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3. เก็บเฉพาะคะแนนสะสมสูงสุดแต่ละตำแหน่ง</a:t>
            </a:r>
          </a:p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4. ย้อนกลับหาเส้นทางที่ดีที่สุด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5669280" cy="109728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dp[j] = max  { dp[j-k] + Score(s_{j-k+1}…s_j, k)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931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  <a:latin typeface="TH Sarabun New"/>
              </a:rPr>
              <a:t>k = 1…8  (จำกัดที่ 8 พยางค์เพราะคำไทยยาวสุดไม่เกิน 8 พยางค์)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29768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159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TH Sarabun New"/>
              </a:rPr>
              <a:t>ตัวอย่าง: โรงพยาบาล  (3 พยางค์)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754880"/>
            <a:ext cx="320040" cy="246888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54880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Calibri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754880"/>
            <a:ext cx="1463040" cy="246888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754880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คำผู้สมัคร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4754880"/>
            <a:ext cx="1051560" cy="246888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4754880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754880"/>
            <a:ext cx="1783080" cy="246888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4754880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dp[3-k]+Score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4754880"/>
            <a:ext cx="1371600" cy="246888"/>
          </a:xfrm>
          <a:prstGeom prst="rect">
            <a:avLst/>
          </a:prstGeom>
          <a:solidFill>
            <a:srgbClr val="E0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4754880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ผล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010912"/>
            <a:ext cx="3200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010912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010912"/>
            <a:ext cx="14630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010912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บาล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5010912"/>
            <a:ext cx="1051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5010912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3.60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5010912"/>
            <a:ext cx="1783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5010912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57.39+3.60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5010912"/>
            <a:ext cx="1371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5010912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61.0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66944"/>
            <a:ext cx="3200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266944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66944"/>
            <a:ext cx="14630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66944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พยาบาล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5266944"/>
            <a:ext cx="1051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5266944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18.5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5266944"/>
            <a:ext cx="1783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5266944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53.77+18.5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5266944"/>
            <a:ext cx="1371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5266944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72.3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22976"/>
            <a:ext cx="3200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22976"/>
            <a:ext cx="320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Calibri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5522976"/>
            <a:ext cx="146304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522976"/>
            <a:ext cx="1463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โรงพยาบาล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40" y="5522976"/>
            <a:ext cx="10515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48840" y="5522976"/>
            <a:ext cx="1051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34.04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5522976"/>
            <a:ext cx="1783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46120" y="5522976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49.91+34.04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4920" y="5522976"/>
            <a:ext cx="137160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74920" y="5522976"/>
            <a:ext cx="1371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83.95 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1188720"/>
            <a:ext cx="57607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7862C"/>
                </a:solidFill>
                <a:latin typeface="TH Sarabun New"/>
              </a:rPr>
              <a:t>ผลลัพธ์ตัวอย่าง: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16916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"เมื่อวานนักเรียนทุกคนไปโรงพยาบาล"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2331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75B6"/>
                </a:solidFill>
                <a:latin typeface="TH Sarabun New"/>
              </a:rPr>
              <a:t>↓  Viterbi เลือก: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2788920"/>
            <a:ext cx="1600200" cy="6400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TH Sarabun New"/>
              </a:rPr>
              <a:t>เมื่อวาน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2788920"/>
            <a:ext cx="1600200" cy="64008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TH Sarabun New"/>
              </a:rPr>
              <a:t>นักเรียน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66960" y="2788920"/>
            <a:ext cx="1600200" cy="64008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66960" y="278892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TH Sarabun New"/>
              </a:rPr>
              <a:t>ทุก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3566160"/>
            <a:ext cx="160020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TH Sarabun New"/>
              </a:rPr>
              <a:t>คน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38160" y="3566160"/>
            <a:ext cx="1600200" cy="640080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TH Sarabun New"/>
              </a:rPr>
              <a:t>ไป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66960" y="3566160"/>
            <a:ext cx="1600200" cy="6400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66960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TH Sarabun New"/>
              </a:rPr>
              <a:t>โรงพยาบาล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26480" y="4251960"/>
            <a:ext cx="5760720" cy="1600200"/>
          </a:xfrm>
          <a:prstGeom prst="roundRect">
            <a:avLst/>
          </a:prstGeom>
          <a:solidFill>
            <a:srgbClr val="EB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60" y="42793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Compound Bonus CB(k):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0" y="4709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3864"/>
                </a:solidFill>
                <a:latin typeface="Calibri"/>
              </a:rPr>
              <a:t>k=1: CB =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4709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k=2: CB = +15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47091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k≥3: CB = +30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4320" y="6172200"/>
            <a:ext cx="1188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6199632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Word Segmentation F1 = 93.6%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Score Formula – การให้คะแนนคำผู้สมัคร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577840" cy="2377440"/>
          </a:xfrm>
          <a:prstGeom prst="roundRect">
            <a:avLst/>
          </a:prstGeom>
          <a:solidFill>
            <a:srgbClr val="FFE699"/>
          </a:solidFill>
          <a:ln w="25400">
            <a:solidFill>
              <a:srgbClr val="C5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577840" cy="50292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070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H Sarabun New"/>
              </a:rPr>
              <a:t>Forced Compound
(ประเทศไทย, พระนาม...)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5564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5911A"/>
                </a:solidFill>
                <a:latin typeface="Calibri"/>
              </a:rPr>
              <a:t>Score = 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060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ชนะเสมอ ไม่มีข้อยกเว้น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577840" cy="237744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57784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070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H Sarabun New"/>
              </a:rPr>
              <a:t>Dictionary Word
(w ∈ LST20 dict)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5564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5B6"/>
                </a:solidFill>
                <a:latin typeface="Calibri"/>
              </a:rPr>
              <a:t>Score = −0.6 + ln(ln(f+1)+1)
        + 2.5 + CB(k)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−0.6: ค่าปรับต่อขอบเขต
+2.5: bonus ทุกคำในพจนานุกรม
CB:   bonus คำประสม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749039"/>
            <a:ext cx="5577840" cy="2377440"/>
          </a:xfrm>
          <a:prstGeom prst="roundRect">
            <a:avLst/>
          </a:prstGeom>
          <a:solidFill>
            <a:srgbClr val="CCEEEC"/>
          </a:solidFill>
          <a:ln w="25400">
            <a:solidFill>
              <a:srgbClr val="007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" y="3749039"/>
            <a:ext cx="5577840" cy="50292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76732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H Sarabun New"/>
              </a:rPr>
              <a:t>Unknown Thai (k=2)
validThai ✓, 2 พยางค์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31596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06A"/>
                </a:solidFill>
                <a:latin typeface="Calibri"/>
              </a:rPr>
              <a:t>Score = 7.5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16635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คำประสมใหม่ที่ยังไม่ใน dict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577840" cy="2377440"/>
          </a:xfrm>
          <a:prstGeom prst="roundRect">
            <a:avLst/>
          </a:prstGeom>
          <a:solidFill>
            <a:srgbClr val="FFD7D7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5577840" cy="50292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76732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H Sarabun New"/>
              </a:rPr>
              <a:t>Other / Invalid
validThai ✗ หรือ k≠2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1596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Calibri"/>
              </a:rPr>
              <a:t>Score = −1.6  or  −2.6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16635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บังคับหลีกเลี่ยง
การรวมที่ไม่สมเหตุสมผล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6172200"/>
            <a:ext cx="1188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199632"/>
            <a:ext cx="1188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CB(k) = min(k−1, 2) × 15    →    1-syl: +0    2-syl: +15    3+-syl: +30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k-best Reranking ด้วย POS CRF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13232"/>
            <a:ext cx="102714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DD7EE"/>
                </a:solidFill>
                <a:latin typeface="TH Sarabun New"/>
              </a:rPr>
              <a:t>ทำไม Viterbi อย่างเดียวยังไม่พอ?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5303520" cy="1463040"/>
          </a:xfrm>
          <a:prstGeom prst="roundRect">
            <a:avLst/>
          </a:prstGeom>
          <a:solidFill>
            <a:srgbClr val="FFD7D7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TH Sarabun New"/>
              </a:rPr>
              <a:t>ปัญหาของ Viterbi 1-best: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ประเมินคำทีละคำ ไม่รู้บริบทรอบข้าง</a:t>
            </a:r>
          </a:p>
          <a:p>
            <a:pPr algn="l"/>
            <a:r>
              <a:rPr sz="1700" b="0">
                <a:solidFill>
                  <a:srgbClr val="262626"/>
                </a:solidFill>
                <a:latin typeface="TH Sarabun New"/>
              </a:rPr>
              <a:t>เส้นทางที่คะแนนสูงสุดอาจไม่ถูกต้องทางไวยากรณ์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743200"/>
            <a:ext cx="5303520" cy="1828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วิธีแก้: k-best + POS Reranking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TH Sarabun New"/>
              </a:rPr>
              <a:t>1. Viterbi เก็บ 5 เส้นทางที่ดีที่สุด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TH Sarabun New"/>
              </a:rPr>
              <a:t>2. ส่งลำดับคำแต่ละเส้นทางเข้า POS CRF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TH Sarabun New"/>
              </a:rPr>
              <a:t>3. CRF ให้ P(tag | word) ต่อคำ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TH Sarabun New"/>
              </a:rPr>
              <a:t>4. คะแนนรวม = Viterbi + λ × POS</a:t>
            </a:r>
          </a:p>
          <a:p>
            <a:pPr algn="l"/>
            <a:r>
              <a:rPr sz="1600" b="0">
                <a:solidFill>
                  <a:srgbClr val="262626"/>
                </a:solidFill>
                <a:latin typeface="TH Sarabun New"/>
              </a:rPr>
              <a:t>5. เลือกเส้นทางที่คะแนนรวมสูงสุด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663440"/>
            <a:ext cx="5303520" cy="7772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S* = argmax_i  ( V_i  +  λ · P_i )      λ = 0.3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1887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188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2F8C"/>
                </a:solidFill>
                <a:latin typeface="Calibri"/>
              </a:rPr>
              <a:t>POS Confidence Score (Pᵢ)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719072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8C"/>
                </a:solidFill>
                <a:latin typeface="Calibri"/>
              </a:rPr>
              <a:t>Pᵢ = Σ ln( max_tag P(tag_t | w_t) + ε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28600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• ln ผลลัพธ์เป็นลบเสมอ (0 &lt; P ≤ 1)
• ค่าใกล้ 0 = CRF มั่นใจสูง
• ค่าห่างจาก 0 = CRF สับสน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3154680"/>
            <a:ext cx="347472" cy="457200"/>
          </a:xfrm>
          <a:prstGeom prst="rect">
            <a:avLst/>
          </a:prstGeom>
          <a:solidFill>
            <a:srgbClr val="CCE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1546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54680"/>
            <a:ext cx="2578608" cy="457200"/>
          </a:xfrm>
          <a:prstGeom prst="rect">
            <a:avLst/>
          </a:prstGeom>
          <a:solidFill>
            <a:srgbClr val="CCE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15468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ลำดับคำ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3154680"/>
            <a:ext cx="987552" cy="457200"/>
          </a:xfrm>
          <a:prstGeom prst="rect">
            <a:avLst/>
          </a:prstGeom>
          <a:solidFill>
            <a:srgbClr val="CCE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31546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V_i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3154680"/>
            <a:ext cx="987552" cy="457200"/>
          </a:xfrm>
          <a:prstGeom prst="rect">
            <a:avLst/>
          </a:prstGeom>
          <a:solidFill>
            <a:srgbClr val="CCE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1546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P_i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3154680"/>
            <a:ext cx="1188720" cy="457200"/>
          </a:xfrm>
          <a:prstGeom prst="rect">
            <a:avLst/>
          </a:prstGeom>
          <a:solidFill>
            <a:srgbClr val="CCE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31546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รวม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3657600"/>
            <a:ext cx="347472" cy="457200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65760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TH Sarabun New"/>
              </a:rPr>
              <a:t>1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657600"/>
            <a:ext cx="2578608" cy="457200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65760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เมื่อวาน|นักเรียน|...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657600"/>
            <a:ext cx="987552" cy="457200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365760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83.95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3657600"/>
            <a:ext cx="987552" cy="457200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65760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-0.40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89920" y="3657600"/>
            <a:ext cx="1188720" cy="457200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0" y="3657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83.55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4160520"/>
            <a:ext cx="3474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41605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160520"/>
            <a:ext cx="257860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16052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เมื่อ|วาน|นักเรียน|...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160520"/>
            <a:ext cx="9875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416052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72.10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4160520"/>
            <a:ext cx="9875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0" y="416052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-2.80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89920" y="416052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9920" y="4160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71.26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4663440"/>
            <a:ext cx="3474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466344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63440"/>
            <a:ext cx="257860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46634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เมื่อวาน|นัก|เรียน|...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4663440"/>
            <a:ext cx="9875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466344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74.50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4663440"/>
            <a:ext cx="9875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84080" y="466344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-2.10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89920" y="4663440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9920" y="4663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62626"/>
                </a:solidFill>
                <a:latin typeface="TH Sarabun New"/>
              </a:rPr>
              <a:t>73.87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60720" y="5257800"/>
            <a:ext cx="6217920" cy="502920"/>
          </a:xfrm>
          <a:prstGeom prst="roundRect">
            <a:avLst/>
          </a:prstGeom>
          <a:solidFill>
            <a:srgbClr val="FFE699"/>
          </a:solidFill>
          <a:ln w="12700">
            <a:solidFill>
              <a:srgbClr val="C5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60" y="5276088"/>
            <a:ext cx="6035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⚡  ถ้า gap &gt; 5.0 → ใช้ Viterbi โดยตรง (ไม่รัน POS เพิ่ม)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Stage 4: POS Tagging – 16 Tags (LST20 Standard)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658368" cy="109728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234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คำนาม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บ้าน รถ ครู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5263" y="118872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55263" y="1188720"/>
            <a:ext cx="658368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3" y="1188720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1234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TH Sarabun New"/>
              </a:rPr>
              <a:t>คำกริยา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กิน วิ่ง เดิน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18872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1188720"/>
            <a:ext cx="658368" cy="109728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188720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1234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6A"/>
                </a:solidFill>
                <a:latin typeface="TH Sarabun New"/>
              </a:rPr>
              <a:t>คำคุณศัพท์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สวย ใหญ่ ดี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1188720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17152" y="1188720"/>
            <a:ext cx="658368" cy="1097280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1188720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1234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TH Sarabun New"/>
              </a:rPr>
              <a:t>คำวิเศษณ์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เร็ว ช้า มาก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2450591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4320" y="2450591"/>
            <a:ext cx="658368" cy="109728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450591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249631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8C"/>
                </a:solidFill>
                <a:latin typeface="TH Sarabun New"/>
              </a:rPr>
              <a:t>คำช่วย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29809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จะ ได้ ให้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55263" y="2450591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55263" y="2450591"/>
            <a:ext cx="658368" cy="10972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55263" y="2450591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9352" y="249631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TH Sarabun New"/>
              </a:rPr>
              <a:t>คำเชื่อม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9352" y="29809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และ หรือ แต่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7" y="2450591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36207" y="2450591"/>
            <a:ext cx="658368" cy="10972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7" y="2450591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0296" y="249631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TH Sarabun New"/>
              </a:rPr>
              <a:t>ลักษณนาม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0296" y="29809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ตัว คน อัน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7152" y="2450591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17152" y="2450591"/>
            <a:ext cx="658368" cy="1097280"/>
          </a:xfrm>
          <a:prstGeom prst="round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7152" y="2450591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2496311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00080"/>
                </a:solidFill>
                <a:latin typeface="TH Sarabun New"/>
              </a:rPr>
              <a:t>คำเติม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29809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การ ความ นัก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3712463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74320" y="3712463"/>
            <a:ext cx="658368" cy="10972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3712463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IJ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" y="3758183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080"/>
                </a:solidFill>
                <a:latin typeface="TH Sarabun New"/>
              </a:rPr>
              <a:t>คำอุทาน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" y="424281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โอ้ อา โธ่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55263" y="3712463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255263" y="3712463"/>
            <a:ext cx="658368" cy="10972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55263" y="3712463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59352" y="3758183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TH Sarabun New"/>
              </a:rPr>
              <a:t>คำปฏิเสธ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59352" y="424281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ไม่ ไม่ได้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6207" y="3712463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236207" y="3712463"/>
            <a:ext cx="658368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7" y="3712463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0296" y="3758183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TH Sarabun New"/>
              </a:rPr>
              <a:t>คำบอกจำนวน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0296" y="424281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หนึ่ง สอง สาม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17152" y="3712463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217152" y="3712463"/>
            <a:ext cx="658368" cy="109728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17152" y="3712463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1240" y="3758183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6A"/>
                </a:solidFill>
                <a:latin typeface="TH Sarabun New"/>
              </a:rPr>
              <a:t>คำบอกอัตภาพ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21240" y="424281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ผม ฉัน เขา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4320" y="4974336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" y="4974336"/>
            <a:ext cx="658368" cy="1097280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4974336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" y="502005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TH Sarabun New"/>
              </a:rPr>
              <a:t>คำสรรพนาม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" y="55046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นี้ นั้น ที่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55263" y="4974336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255263" y="4974336"/>
            <a:ext cx="658368" cy="109728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55263" y="4974336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59352" y="502005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8C"/>
                </a:solidFill>
                <a:latin typeface="TH Sarabun New"/>
              </a:rPr>
              <a:t>คำบุพบท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59352" y="55046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ใน บน ของ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36207" y="4974336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236207" y="4974336"/>
            <a:ext cx="658368" cy="1097280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36207" y="4974336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0296" y="502005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2626"/>
                </a:solidFill>
                <a:latin typeface="TH Sarabun New"/>
              </a:rPr>
              <a:t>วรรคตอน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0296" y="55046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, . ? !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217152" y="4974336"/>
            <a:ext cx="27432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7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217152" y="4974336"/>
            <a:ext cx="658368" cy="1097280"/>
          </a:xfrm>
          <a:prstGeom prst="round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17152" y="4974336"/>
            <a:ext cx="6583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XX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21240" y="502005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67676"/>
                </a:solidFill>
                <a:latin typeface="TH Sarabun New"/>
              </a:rPr>
              <a:t>จำแนกไม่ได้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21240" y="55046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7676"/>
                </a:solidFill>
                <a:latin typeface="TH Sarabun New"/>
              </a:rPr>
              <a:t>—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74320" y="6245352"/>
            <a:ext cx="11887200" cy="41148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6272784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POS Accuracy = 94.27%   |   NG F1 = 99.85%   |   FX F1 = 99.36%   |   CL F1 = 57.39% (ต่ำสุด)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การออกแบบระบบ – User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6576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188720"/>
            <a:ext cx="3657600" cy="475488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🔐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5564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ตรวจสอบ username/password
ล็อกอัตโนมัติถ้าผิด 3 ครั้ง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188720"/>
            <a:ext cx="36576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188720"/>
            <a:ext cx="3657600" cy="47548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225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📄 HTML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5564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ลาก-วางไฟล์ .html
ดึงเฉพาะ text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88720"/>
            <a:ext cx="36576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3657600" cy="475488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25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✏ Text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75564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พิมพ์/วางข้อความ
ปุ่ม Copy ผลลัพธ์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566160"/>
            <a:ext cx="36576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3566160"/>
            <a:ext cx="3657600" cy="475488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027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⚙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13308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เลือก HTML tag (&lt;span&gt;)
กำหนด CSS 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3566160"/>
            <a:ext cx="36576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59" y="3566160"/>
            <a:ext cx="3657600" cy="475488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36027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📜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13308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History Card: ชื่อไฟล์ + เวลา + จำนวน Segments
Search / Download / Delete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566160"/>
            <a:ext cx="365760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3566160"/>
            <a:ext cx="3657600" cy="47548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6027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H Sarabun New"/>
              </a:rPr>
              <a:t>📊 Statistics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33088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ภาพรวมผล MTU / Syllable / Word / POS
บน LST20 test 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การออกแบบฐานข้อมูล (SQLite3)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657600" cy="5029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3657600" cy="42976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37360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73736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Calibri"/>
              </a:rPr>
              <a:t>PK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12848"/>
            <a:ext cx="3657600" cy="42976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12848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1284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21284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Calibri"/>
              </a:rPr>
              <a:t>UNIQUE NOT 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88336"/>
            <a:ext cx="3657600" cy="42976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8833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688336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68833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63824"/>
            <a:ext cx="3657600" cy="42976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63824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is_system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163824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Calibri"/>
              </a:rPr>
              <a:t>DEFAULT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1188720"/>
            <a:ext cx="3657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737360"/>
            <a:ext cx="3657600" cy="42976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1737360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737360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173736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5B6"/>
                </a:solidFill>
                <a:latin typeface="Calibri"/>
              </a:rPr>
              <a:t>PK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212848"/>
            <a:ext cx="3657600" cy="42976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2212848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username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21284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221284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5B6"/>
                </a:solidFill>
                <a:latin typeface="Calibri"/>
              </a:rPr>
              <a:t>UNIQUE NOT NULL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2688336"/>
            <a:ext cx="3657600" cy="42976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79" y="268833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password_hash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688336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79" y="268833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5B6"/>
                </a:solidFill>
                <a:latin typeface="Calibri"/>
              </a:rPr>
              <a:t>NOT NULL (bcrypt)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163824"/>
            <a:ext cx="3657600" cy="42976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79" y="3163824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role_id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163824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79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5B6"/>
                </a:solidFill>
                <a:latin typeface="Calibri"/>
              </a:rPr>
              <a:t>FK → roles.id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3639312"/>
            <a:ext cx="3657600" cy="42976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79" y="3639312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name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3639312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9" y="3639312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5B6"/>
                </a:solidFill>
                <a:latin typeface="Calibri"/>
              </a:rPr>
              <a:t>NOT NULL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114800"/>
            <a:ext cx="3657600" cy="42976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79" y="4114800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login_attempts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4114800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79" y="411480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5B6"/>
                </a:solidFill>
                <a:latin typeface="Calibri"/>
              </a:rPr>
              <a:t>DEFAULT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590288"/>
            <a:ext cx="3657600" cy="429768"/>
          </a:xfrm>
          <a:prstGeom prst="rect">
            <a:avLst/>
          </a:prstGeom>
          <a:solidFill>
            <a:srgbClr val="E8F4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79" y="4590288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is_locked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459028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79" y="459028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5B6"/>
                </a:solidFill>
                <a:latin typeface="Calibri"/>
              </a:rPr>
              <a:t>DEFAULT 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60" y="1188720"/>
            <a:ext cx="3657600" cy="50292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0" y="1188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sessions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1737360"/>
            <a:ext cx="3657600" cy="429768"/>
          </a:xfrm>
          <a:prstGeom prst="rect">
            <a:avLst/>
          </a:prstGeom>
          <a:solidFill>
            <a:srgbClr val="CCEE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1737360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token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1737360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173736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06A"/>
                </a:solidFill>
                <a:latin typeface="Calibri"/>
              </a:rPr>
              <a:t>PK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2212848"/>
            <a:ext cx="3657600" cy="429768"/>
          </a:xfrm>
          <a:prstGeom prst="rect">
            <a:avLst/>
          </a:prstGeom>
          <a:solidFill>
            <a:srgbClr val="CCEE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2212848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user_id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212848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TEXT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87000" y="221284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06A"/>
                </a:solidFill>
                <a:latin typeface="Calibri"/>
              </a:rPr>
              <a:t>FK → users.id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2688336"/>
            <a:ext cx="3657600" cy="429768"/>
          </a:xfrm>
          <a:prstGeom prst="rect">
            <a:avLst/>
          </a:prstGeom>
          <a:solidFill>
            <a:srgbClr val="CCEE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0" y="268833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created_at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9760" y="2688336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TIMESTAMP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87000" y="268833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06A"/>
                </a:solidFill>
                <a:latin typeface="Calibri"/>
              </a:rPr>
              <a:t>CURRENT_TIMESTAMP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38160" y="3163824"/>
            <a:ext cx="3657600" cy="429768"/>
          </a:xfrm>
          <a:prstGeom prst="rect">
            <a:avLst/>
          </a:prstGeom>
          <a:solidFill>
            <a:srgbClr val="CCEE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0" y="3163824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"/>
              </a:rPr>
              <a:t>expires_at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3163824"/>
            <a:ext cx="7772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7676"/>
                </a:solidFill>
                <a:latin typeface="Calibri"/>
              </a:rPr>
              <a:t>TIMESTAMP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87000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06A"/>
                </a:solidFill>
                <a:latin typeface="Calibri"/>
              </a:rPr>
              <a:t>NOT NULL (+30 min)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5760720"/>
            <a:ext cx="11704320" cy="822960"/>
          </a:xfrm>
          <a:prstGeom prst="roundRect">
            <a:avLst/>
          </a:prstGeom>
          <a:solidFill>
            <a:srgbClr val="FFE699"/>
          </a:solidFill>
          <a:ln w="19050">
            <a:solidFill>
              <a:srgbClr val="C591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806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🔒  Security:  รหัสผ่าน bcrypt  |  Lock บัญชีถ้า login ผิด 3 ครั้ง  |  Session หมดอายุ 30 นาที  |  is_system=1 ป้องกันลบ admin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การทดลอง – Dataset &amp;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486400" cy="438912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TH Sarabun New"/>
              </a:rPr>
              <a:t>คลังข้อมูล: LST20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ประโยคทั้งหมด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830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33,687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22576"/>
            <a:ext cx="5212080" cy="475488"/>
          </a:xfrm>
          <a:prstGeom prst="rect">
            <a:avLst/>
          </a:prstGeom>
          <a:solidFill>
            <a:srgbClr val="EBF3FB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2257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ชุดฝึก (train)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2257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~26,000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62072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620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ชุดพัฒนา (dev)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620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~4,000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01568"/>
            <a:ext cx="5212080" cy="475488"/>
          </a:xfrm>
          <a:prstGeom prst="rect">
            <a:avLst/>
          </a:prstGeom>
          <a:solidFill>
            <a:srgbClr val="EBF3FB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015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ชุดทดสอบ (test)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0156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~3,687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41063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41063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โดเมน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941063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ข่าว / นิตยสาร / วิชาการ / ทั่วไป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80559"/>
            <a:ext cx="5212080" cy="475488"/>
          </a:xfrm>
          <a:prstGeom prst="rect">
            <a:avLst/>
          </a:prstGeom>
          <a:solidFill>
            <a:srgbClr val="EBF3FB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80559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ป้ายกำกับ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480559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คำ + POS tag (Gold Labels)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20056"/>
            <a:ext cx="5212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2005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TH Sarabun New"/>
              </a:rPr>
              <a:t>MTU/Syllable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02005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TH Sarabun New"/>
              </a:rPr>
              <a:t>Silver Labels (กฎอักขรวิธี)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188720"/>
            <a:ext cx="58521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188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7862C"/>
                </a:solidFill>
                <a:latin typeface="TH Sarabun New"/>
              </a:rPr>
              <a:t>สภาพแวดล้อม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783080"/>
            <a:ext cx="557784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78308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Calibri"/>
              </a:rPr>
              <a:t>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178308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322576"/>
            <a:ext cx="557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32257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Calibri"/>
              </a:rPr>
              <a:t>Python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2322576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3.13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862072"/>
            <a:ext cx="557784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286207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Calibri"/>
              </a:rPr>
              <a:t>CRF lib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286207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python-crfsuite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401568"/>
            <a:ext cx="557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40156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Calibri"/>
              </a:rPr>
              <a:t>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40156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FastAPI + Uvicorn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941063"/>
            <a:ext cx="557784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41063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Calibri"/>
              </a:rPr>
              <a:t>Frontend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941063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React + TypeScript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4480559"/>
            <a:ext cx="557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480559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Calibri"/>
              </a:rPr>
              <a:t>Database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4480559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SQLite3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020056"/>
            <a:ext cx="557784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E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502005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862C"/>
                </a:solidFill>
                <a:latin typeface="Calibri"/>
              </a:rPr>
              <a:t>Algorithm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020056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sklearn-crfsuite (L-BFGS)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5669280"/>
            <a:ext cx="11704320" cy="9601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696712"/>
            <a:ext cx="11430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ตัวชี้วัด:   Precision = TP/(TP+FP)     Recall = TP/(TP+FN)     F1 = 2·P·R/(P+R)     Accuracy = correct/total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Web Text Wrapping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  <a:latin typeface="TH Sarabun New"/>
              </a:rPr>
              <a:t>ทดสอบกับหน้าเว็บภาษาไทย: นับจุดที่ข้อความตัดผิด ก่อน/หลัง ใช้ระบบ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36576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1783080"/>
            <a:ext cx="3657600" cy="47548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 – Smartphone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134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375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432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Mid-word breaks
Text overflow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783080"/>
            <a:ext cx="36576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59" y="1783080"/>
            <a:ext cx="3657600" cy="47548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7830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 – Tablet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134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768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Awkward breaks
between Thai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783080"/>
            <a:ext cx="36576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783080"/>
            <a:ext cx="3657600" cy="47548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830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 – Desktop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134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1280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7432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Calibri"/>
              </a:rPr>
              <a:t>Occasional overflow
in narrow columns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434840"/>
            <a:ext cx="11704320" cy="960120"/>
          </a:xfrm>
          <a:prstGeom prst="roundRect">
            <a:avLst/>
          </a:prstGeom>
          <a:solidFill>
            <a:srgbClr val="EBF3FB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Calibri"/>
              </a:rPr>
              <a:t>Improvement (%) = (Before − After) / Before ×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64608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E75B6"/>
                </a:solidFill>
                <a:latin typeface="Calibri"/>
              </a:rPr>
              <a:t>Overall Improvement = (B_S+B_M+B_L − A_S−A_M−A_L) / (B_S+B_M+B_L) × 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486400"/>
            <a:ext cx="11704320" cy="68580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13832"/>
            <a:ext cx="11338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H Sarabun New"/>
              </a:rPr>
              <a:t>🎯  เป้าหมาย: Overall Improvement ≥ 70%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ผลการทดลอง – ประสิทธิภาพทุกขั้นตอน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194560" cy="1645920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MTU CRF
F1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2194560" cy="1645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38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Syllable CRF
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2194560" cy="1645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38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Word Seg
F1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188720"/>
            <a:ext cx="2194560" cy="164592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280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938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POS Tagging
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274320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718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H Sarabun New"/>
              </a:rPr>
              <a:t>ขั้นตอน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971800"/>
            <a:ext cx="274320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9718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H Sarabun New"/>
              </a:rPr>
              <a:t>ประเภทป้ายกำกับ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2971800"/>
            <a:ext cx="15544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97180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H Sarabun New"/>
              </a:rPr>
              <a:t>Precision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971800"/>
            <a:ext cx="15544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97180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H Sarabun New"/>
              </a:rPr>
              <a:t>Recall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971800"/>
            <a:ext cx="182880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9718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H Sarabun New"/>
              </a:rPr>
              <a:t>F1 / Acc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56432"/>
            <a:ext cx="2743200" cy="56692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456432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2C"/>
                </a:solidFill>
                <a:latin typeface="TH Sarabun New"/>
              </a:rPr>
              <a:t>MTU CRF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4564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79" y="3456432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Silver (กฎอักขรวิธี)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45643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3456432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99.82%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45643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3456432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99.78%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45643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45643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99.80%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078224"/>
            <a:ext cx="2743200" cy="566928"/>
          </a:xfrm>
          <a:prstGeom prst="rect">
            <a:avLst/>
          </a:prstGeom>
          <a:solidFill>
            <a:srgbClr val="FFE8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078224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TH Sarabun New"/>
              </a:rPr>
              <a:t>Syllable CRF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4078224"/>
            <a:ext cx="274320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4679" y="4078224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Silver (กฎอักขรวิธี)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4078224"/>
            <a:ext cx="155448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80" y="4078224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61.92%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078224"/>
            <a:ext cx="155448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4078224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99.90%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4078224"/>
            <a:ext cx="182880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4078224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76.44%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700016"/>
            <a:ext cx="2743200" cy="566928"/>
          </a:xfrm>
          <a:prstGeom prst="rect">
            <a:avLst/>
          </a:prstGeom>
          <a:solidFill>
            <a:srgbClr val="EBF3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700016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TH Sarabun New"/>
              </a:rPr>
              <a:t>Word Segmentation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470001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54679" y="4700016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Gold (LST20)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470001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7880" y="4700016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93.5%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70001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700016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93.7%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61120" y="470001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4700016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93.6%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321808"/>
            <a:ext cx="2743200" cy="566928"/>
          </a:xfrm>
          <a:prstGeom prst="rect">
            <a:avLst/>
          </a:prstGeom>
          <a:solidFill>
            <a:srgbClr val="F0DD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32180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8C"/>
                </a:solidFill>
                <a:latin typeface="TH Sarabun New"/>
              </a:rPr>
              <a:t>POS Tagging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5321808"/>
            <a:ext cx="274320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54679" y="532180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62626"/>
                </a:solidFill>
                <a:latin typeface="TH Sarabun New"/>
              </a:rPr>
              <a:t>Gold (LST20)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0" y="5321808"/>
            <a:ext cx="155448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97880" y="532180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06640" y="5321808"/>
            <a:ext cx="155448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52360" y="532180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5321808"/>
            <a:ext cx="182880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06840" y="532180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62626"/>
                </a:solidFill>
                <a:latin typeface="TH Sarabun New"/>
              </a:rPr>
              <a:t>94.27%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08076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67676"/>
                </a:solidFill>
                <a:latin typeface="TH Sarabun New"/>
              </a:rPr>
              <a:t>ทดสอบบน LST20 test set  (33,687 ประโยค)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จุดแข็ง (Strengths)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02920" cy="804672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188720"/>
            <a:ext cx="11064240" cy="80467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070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MTU CRF F1 = 99.80%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กฎอักขรวิธีที่ออกแบบให้เหมาะกับโครงสร้างไทย + Feature 12 ประเภท
ทำให้ระบบระบุขอบเขต MTU ได้แม่นยำสูงมาก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167128"/>
            <a:ext cx="502920" cy="804672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67128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67128"/>
            <a:ext cx="11064240" cy="80467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1854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Compound Word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3288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Compound Bonus CB(k) ใน Score function บังคับให้ Viterbi
ชอบรวมพยางค์เป็นคำยาว เช่น โรงพยาบาล (+30 bonus)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145536"/>
            <a:ext cx="502920" cy="804672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145536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145536"/>
            <a:ext cx="11064240" cy="80467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638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POS Accuracy = 94.27%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112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NG (ปฏิเสธ) F1 = 99.85%   FX (คำเติม) F1 = 99.36%
คำที่มีรูปแบบตายตัวจำแนกได้แม่นยำมาก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123944"/>
            <a:ext cx="502920" cy="804672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123944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23944"/>
            <a:ext cx="11064240" cy="80467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422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k-best + POS Reranking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8970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ใช้บริบทระดับประโยค (POS) ช่วยแก้กรณีที่ Viterbi ตัดคำผิด
เช่น นักเรียน vs. นัก+เรียน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102352"/>
            <a:ext cx="502920" cy="804672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102352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102352"/>
            <a:ext cx="11064240" cy="80467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78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20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862C"/>
                </a:solidFill>
                <a:latin typeface="TH Sarabun New"/>
              </a:rPr>
              <a:t>Stolen Consonant Repair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681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กลไกซ่อมขอบเขตพยางค์อัตโนมัติก่อน Viterbi
ลดข้อผิดพลาดที่ส่งต่อจาก Syllable CRF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201168"/>
            <a:ext cx="1371600" cy="640080"/>
          </a:xfrm>
          <a:prstGeom prst="round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201168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บทที่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73152"/>
            <a:ext cx="102714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H Sarabun New"/>
              </a:rPr>
              <a:t>จุดอ่อนและข้อจำกัด (Weaknesses &amp; Limitations)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02920" cy="80467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188720"/>
            <a:ext cx="11064240" cy="804672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070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TH Sarabun New"/>
              </a:rPr>
              <a:t>Syllable CRF Over-segmentation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Precision = 61.9%  →  ตัดพยางค์มากเกินไป
ส่งข้อผิดพลาดไปยังขั้นตอน Word Segmentation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157984"/>
            <a:ext cx="502920" cy="8046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57984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57984"/>
            <a:ext cx="11064240" cy="804672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1762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7D31"/>
                </a:solidFill>
                <a:latin typeface="TH Sarabun New"/>
              </a:rPr>
              <a:t>CL (ลักษณนาม) F1 = 57.39%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237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ลักษณนามทำหน้าที่ได้หลายอย่าง (นาม/กริยา) ทำให้ CRF สับสน
ตัวอย่างน้อยในบางบริบท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127248"/>
            <a:ext cx="502920" cy="804672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127248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127248"/>
            <a:ext cx="11064240" cy="804672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7B2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455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2F8C"/>
                </a:solidFill>
                <a:latin typeface="TH Sarabun New"/>
              </a:rPr>
              <a:t>Silver Labels (MTU &amp; Syllable)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93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ป้ายกำกับ MTU และ Syllable สร้างจากกฎอัตโนมัติ ไม่ใช่ผู้เชี่ยวชาญ
ตัวเลข F1 สะท้อนความสอดคล้องกับกฎ ≠ ความถูกต้องภาษาศาสตร์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096512"/>
            <a:ext cx="502920" cy="80467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096512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096512"/>
            <a:ext cx="11064240" cy="804672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14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5B6"/>
                </a:solidFill>
                <a:latin typeface="TH Sarabun New"/>
              </a:rPr>
              <a:t>In-domain Bias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62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พจนานุกรม Viterbi สร้างจาก LST20 training set เดียวกัน
คะแนน Word Seg อาจสูงกว่าความเป็นจริงบน corpus นอก LST20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065776"/>
            <a:ext cx="502920" cy="804672"/>
          </a:xfrm>
          <a:prstGeom prst="round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065776"/>
            <a:ext cx="502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065776"/>
            <a:ext cx="11064240" cy="804672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0840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62626"/>
                </a:solidFill>
                <a:latin typeface="TH Sarabun New"/>
              </a:rPr>
              <a:t>Unknown Words / คำใหม่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43153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TH Sarabun New"/>
              </a:rPr>
              <a:t>คำแสลง คำยืม คำเฉพาะทางที่ไม่ใน LST20
Viterbi อาจตัดผิดเพราะไม่มีในพจนานุกรม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H Sarabun New"/>
              </a:rPr>
              <a:t>สรุป (Conclusion)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749808"/>
          </a:xfrm>
          <a:prstGeom prst="round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H Sarabun New"/>
              </a:rPr>
              <a:t>🔬  พัฒนาระบบ 4-stage NLP Pipeline สำหรับตัดคำและ POS tagging ภาษาไทย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11247120" cy="749808"/>
          </a:xfrm>
          <a:prstGeom prst="round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H Sarabun New"/>
              </a:rPr>
              <a:t>🧠  ใช้ CRF เป็นแกนหลัก 3 ขั้นตอน + Viterbi DP สำหรับ Word Segmentation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11247120" cy="749808"/>
          </a:xfrm>
          <a:prstGeom prst="round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H Sarabun New"/>
              </a:rPr>
              <a:t>📊  Word F1 = 93.6%  |  POS Accuracy = 94.3%  บนคลัง LST20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59"/>
            <a:ext cx="11247120" cy="749808"/>
          </a:xfrm>
          <a:prstGeom prst="round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94759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TH Sarabun New"/>
              </a:rPr>
              <a:t>🌐  นำไปใช้งานจริงในระบบ Web Text Wrapping ผ่าน React +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DD7EE"/>
                </a:solidFill>
                <a:latin typeface="TH Sarabun New"/>
              </a:rPr>
              <a:t>Future Work: เพิ่ม Gold Syllable Labels · ปรับปรุง CL tagging · ทดสอบ Out-of-domain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235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5911A"/>
                </a:solidFill>
                <a:latin typeface="TH Sarabun New"/>
              </a:rPr>
              <a:t>ขอขอบพระคุณ ผศ.ดร.ณัฐพงษ์ จันทร์แดง อาจารย์ที่ปรึกษา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TH Sarabun New"/>
              </a:rPr>
              <a:t>ขอบคุณครับ / ค่ะ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BDD7EE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760720" cy="54864"/>
          </a:xfrm>
          <a:prstGeom prst="rect">
            <a:avLst/>
          </a:prstGeom>
          <a:solidFill>
            <a:srgbClr val="C59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5911A"/>
                </a:solidFill>
                <a:latin typeface="Calibri"/>
              </a:rPr>
              <a:t>Q &amp;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389120"/>
            <a:ext cx="2194560" cy="1371600"/>
          </a:xfrm>
          <a:prstGeom prst="roundRect">
            <a:avLst/>
          </a:prstGeom>
          <a:solidFill>
            <a:srgbClr val="378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5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1389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MTU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389120"/>
            <a:ext cx="2194560" cy="13716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48055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93.6%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1389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Word F1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389120"/>
            <a:ext cx="2194560" cy="1371600"/>
          </a:xfrm>
          <a:prstGeom prst="roundRect">
            <a:avLst/>
          </a:prstGeom>
          <a:solidFill>
            <a:srgbClr val="7B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48055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94.3%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1389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POS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389120"/>
            <a:ext cx="2194560" cy="1371600"/>
          </a:xfrm>
          <a:prstGeom prst="roundRect">
            <a:avLst/>
          </a:prstGeom>
          <a:solidFill>
            <a:srgbClr val="007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48055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4-stage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1389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TH Sarabun New"/>
              </a:rP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DD7EE"/>
                </a:solidFill>
                <a:latin typeface="TH Sarabun New"/>
              </a:rPr>
              <a:t>นางสาวยูนิส เหลียว  |  6511130010  |  วิศวกรรมคอมพิวเตอร์และปัญญาประดิษฐ์  |  MUT 2568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